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46304"/>
          </a:xfrm>
          <a:prstGeom prst="roundRect">
            <a:avLst>
              <a:gd name="adj" fmla="val 6000"/>
            </a:avLst>
          </a:prstGeom>
          <a:solidFill>
            <a:srgbClr val="C87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778824" y="1066190"/>
            <a:ext cx="634959" cy="1177747"/>
          </a:xfrm>
          <a:prstGeom prst="roundRect">
            <a:avLst>
              <a:gd name="adj" fmla="val 16000"/>
            </a:avLst>
          </a:prstGeom>
          <a:solidFill>
            <a:srgbClr val="FCFBF8"/>
          </a:solidFill>
          <a:ln w="15875">
            <a:solidFill>
              <a:srgbClr val="D8D3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80942" y="912571"/>
            <a:ext cx="30723" cy="133136"/>
          </a:xfrm>
          <a:prstGeom prst="roundRect">
            <a:avLst/>
          </a:prstGeom>
          <a:solidFill>
            <a:srgbClr val="2B2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809548" y="482437"/>
            <a:ext cx="573511" cy="757854"/>
          </a:xfrm>
          <a:prstGeom prst="ellipse">
            <a:avLst/>
          </a:prstGeom>
          <a:solidFill>
            <a:srgbClr val="F7ECE0"/>
          </a:solidFill>
          <a:ln>
            <a:noFill/>
          </a:ln>
          <a:effectLst>
            <a:softEdge rad="133136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993891" y="605332"/>
            <a:ext cx="204825" cy="471098"/>
          </a:xfrm>
          <a:prstGeom prst="ellipse">
            <a:avLst/>
          </a:prstGeom>
          <a:solidFill>
            <a:srgbClr val="C8743A"/>
          </a:solidFill>
          <a:ln>
            <a:noFill/>
          </a:ln>
          <a:effectLst>
            <a:softEdge rad="30723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050218" y="717986"/>
            <a:ext cx="92171" cy="215066"/>
          </a:xfrm>
          <a:prstGeom prst="ellipse">
            <a:avLst/>
          </a:prstGeom>
          <a:solidFill>
            <a:srgbClr val="F6C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487168"/>
            <a:ext cx="103628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 spc="260">
                <a:solidFill>
                  <a:srgbClr val="9A938A"/>
                </a:solidFill>
                <a:latin typeface="Segoe UI"/>
              </a:rPr>
              <a:t>HACKPRIX S3   ·   TEAM THRIVERS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52928"/>
            <a:ext cx="1036289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200" b="0" i="0">
                <a:solidFill>
                  <a:srgbClr val="2B2A28"/>
                </a:solidFill>
                <a:latin typeface="Georgia"/>
              </a:rPr>
              <a:t>LastLogin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114800"/>
            <a:ext cx="103628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300" b="0" i="1">
                <a:solidFill>
                  <a:srgbClr val="A65621"/>
                </a:solidFill>
                <a:latin typeface="Georgia"/>
              </a:rPr>
              <a:t>Your last login isn't goodbye.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0" y="4754880"/>
            <a:ext cx="780257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450" b="0" i="0">
                <a:solidFill>
                  <a:srgbClr val="55524C"/>
                </a:solidFill>
                <a:latin typeface="Segoe UI"/>
              </a:rPr>
              <a:t>A proactive digital-estate manager that activates only after a verified death — your vault, your wishes, and your voice, for the people you love.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943600"/>
            <a:ext cx="103628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9A938A"/>
                </a:solidFill>
                <a:latin typeface="Consolas"/>
              </a:rPr>
              <a:t>Gemini  ·  ElevenLabs  ·  Sarvam  ·  Ethereum  ·  MongoDB  ·  Vultr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 spc="220">
                <a:solidFill>
                  <a:srgbClr val="C8743A"/>
                </a:solidFill>
                <a:latin typeface="Segoe UI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32688"/>
            <a:ext cx="10515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700" b="0" i="0">
                <a:solidFill>
                  <a:srgbClr val="2B2A28"/>
                </a:solidFill>
                <a:latin typeface="Georgia"/>
              </a:rPr>
              <a:t>When we die, our digital life dies messy.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331720"/>
            <a:ext cx="640080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650" b="1" i="0">
                <a:solidFill>
                  <a:srgbClr val="C8743A"/>
                </a:solidFill>
                <a:latin typeface="Segoe UI"/>
              </a:rPr>
              <a:t>•   </a:t>
            </a:r>
            <a:r>
              <a:rPr sz="1650" b="0" i="0">
                <a:solidFill>
                  <a:srgbClr val="55524C"/>
                </a:solidFill>
                <a:latin typeface="Segoe UI"/>
              </a:rPr>
              <a:t>Accounts, photos, and passwords — locked away forever.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650" b="1" i="0">
                <a:solidFill>
                  <a:srgbClr val="C8743A"/>
                </a:solidFill>
                <a:latin typeface="Segoe UI"/>
              </a:rPr>
              <a:t>•   </a:t>
            </a:r>
            <a:r>
              <a:rPr sz="1650" b="0" i="0">
                <a:solidFill>
                  <a:srgbClr val="55524C"/>
                </a:solidFill>
                <a:latin typeface="Segoe UI"/>
              </a:rPr>
              <a:t>Crypto with no keys and no heirs is lost for good.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650" b="1" i="0">
                <a:solidFill>
                  <a:srgbClr val="C8743A"/>
                </a:solidFill>
                <a:latin typeface="Segoe UI"/>
              </a:rPr>
              <a:t>•   </a:t>
            </a:r>
            <a:r>
              <a:rPr sz="1650" b="0" i="0">
                <a:solidFill>
                  <a:srgbClr val="55524C"/>
                </a:solidFill>
                <a:latin typeface="Segoe UI"/>
              </a:rPr>
              <a:t>No trusted way to say a real goodbye.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650" b="1" i="0">
                <a:solidFill>
                  <a:srgbClr val="C8743A"/>
                </a:solidFill>
                <a:latin typeface="Segoe UI"/>
              </a:rPr>
              <a:t>•   </a:t>
            </a:r>
            <a:r>
              <a:rPr sz="1650" b="0" i="0">
                <a:solidFill>
                  <a:srgbClr val="55524C"/>
                </a:solidFill>
                <a:latin typeface="Segoe UI"/>
              </a:rPr>
              <a:t>“Just in case” notes are scattered, stale, and unsafe.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35240" y="2240280"/>
            <a:ext cx="3703320" cy="2788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E0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1000" y="2788920"/>
            <a:ext cx="2971800" cy="1828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3000" b="0" i="0">
                <a:solidFill>
                  <a:srgbClr val="2B2A28"/>
                </a:solidFill>
                <a:latin typeface="Georgia"/>
              </a:rPr>
              <a:t>No keys.</a:t>
            </a:r>
          </a:p>
          <a:p>
            <a:pPr>
              <a:lnSpc>
                <a:spcPct val="110000"/>
              </a:lnSpc>
            </a:pPr>
            <a:r>
              <a:rPr sz="3000" b="0" i="0">
                <a:solidFill>
                  <a:srgbClr val="2B2A28"/>
                </a:solidFill>
                <a:latin typeface="Georgia"/>
              </a:rPr>
              <a:t>No heirs.</a:t>
            </a:r>
          </a:p>
          <a:p>
            <a:pPr>
              <a:lnSpc>
                <a:spcPct val="110000"/>
              </a:lnSpc>
            </a:pPr>
            <a:r>
              <a:rPr sz="3000" b="0" i="0">
                <a:solidFill>
                  <a:srgbClr val="A65621"/>
                </a:solidFill>
                <a:latin typeface="Georgia"/>
              </a:rPr>
              <a:t>Gone.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1908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1" i="0">
                <a:solidFill>
                  <a:srgbClr val="C8743A"/>
                </a:solidFill>
                <a:latin typeface="Segoe UI"/>
              </a:rPr>
              <a:t>LastLogin</a:t>
            </a:r>
            <a:r>
              <a:rPr sz="900" b="0" i="0">
                <a:solidFill>
                  <a:srgbClr val="9A938A"/>
                </a:solidFill>
                <a:latin typeface="Segoe UI"/>
              </a:rPr>
              <a:t>   ·   Team Thrivers   ·   Hackprix S3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19088"/>
            <a:ext cx="75895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A938A"/>
                </a:solidFill>
                <a:latin typeface="Consolas"/>
              </a:rPr>
              <a:t>02 / 08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 spc="220">
                <a:solidFill>
                  <a:srgbClr val="C8743A"/>
                </a:solidFill>
                <a:latin typeface="Segoe UI"/>
              </a:rPr>
              <a:t>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32688"/>
            <a:ext cx="10515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700" b="0" i="0">
                <a:solidFill>
                  <a:srgbClr val="2B2A28"/>
                </a:solidFill>
                <a:latin typeface="Georgia"/>
              </a:rPr>
              <a:t>Calm by design. Active only when it must be.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331720"/>
            <a:ext cx="640080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300"/>
              </a:spcAft>
            </a:pPr>
            <a:r>
              <a:rPr sz="1650" b="1" i="0">
                <a:solidFill>
                  <a:srgbClr val="C8743A"/>
                </a:solidFill>
                <a:latin typeface="Segoe UI"/>
              </a:rPr>
              <a:t>•   </a:t>
            </a:r>
            <a:r>
              <a:rPr sz="1650" b="0" i="0">
                <a:solidFill>
                  <a:srgbClr val="55524C"/>
                </a:solidFill>
                <a:latin typeface="Segoe UI"/>
              </a:rPr>
              <a:t>One secure vault for accounts, assets, and last words.</a:t>
            </a:r>
          </a:p>
          <a:p>
            <a:pPr>
              <a:lnSpc>
                <a:spcPct val="112000"/>
              </a:lnSpc>
              <a:spcAft>
                <a:spcPts val="1300"/>
              </a:spcAft>
            </a:pPr>
            <a:r>
              <a:rPr sz="1650" b="1" i="0">
                <a:solidFill>
                  <a:srgbClr val="C8743A"/>
                </a:solidFill>
                <a:latin typeface="Segoe UI"/>
              </a:rPr>
              <a:t>•   </a:t>
            </a:r>
            <a:r>
              <a:rPr sz="1650" b="0" i="0">
                <a:solidFill>
                  <a:srgbClr val="55524C"/>
                </a:solidFill>
                <a:latin typeface="Segoe UI"/>
              </a:rPr>
              <a:t>Releases nothing until death is verified by people you trust.</a:t>
            </a:r>
          </a:p>
          <a:p>
            <a:pPr>
              <a:lnSpc>
                <a:spcPct val="112000"/>
              </a:lnSpc>
              <a:spcAft>
                <a:spcPts val="1300"/>
              </a:spcAft>
            </a:pPr>
            <a:r>
              <a:rPr sz="1650" b="1" i="0">
                <a:solidFill>
                  <a:srgbClr val="C8743A"/>
                </a:solidFill>
                <a:latin typeface="Segoe UI"/>
              </a:rPr>
              <a:t>•   </a:t>
            </a:r>
            <a:r>
              <a:rPr sz="1650" b="0" i="0">
                <a:solidFill>
                  <a:srgbClr val="55524C"/>
                </a:solidFill>
                <a:latin typeface="Segoe UI"/>
              </a:rPr>
              <a:t>2-of-3 guardians + an AI-checked certificate flip the switch.</a:t>
            </a:r>
          </a:p>
          <a:p>
            <a:pPr>
              <a:lnSpc>
                <a:spcPct val="112000"/>
              </a:lnSpc>
              <a:spcAft>
                <a:spcPts val="1300"/>
              </a:spcAft>
            </a:pPr>
            <a:r>
              <a:rPr sz="1650" b="1" i="0">
                <a:solidFill>
                  <a:srgbClr val="C8743A"/>
                </a:solidFill>
                <a:latin typeface="Segoe UI"/>
              </a:rPr>
              <a:t>•   </a:t>
            </a:r>
            <a:r>
              <a:rPr sz="1650" b="0" i="0">
                <a:solidFill>
                  <a:srgbClr val="55524C"/>
                </a:solidFill>
                <a:latin typeface="Segoe UI"/>
              </a:rPr>
              <a:t>Crypto inheritance settles on-chain — no lawyer, no lock-out.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35240" y="2240280"/>
            <a:ext cx="3703320" cy="2926080"/>
          </a:xfrm>
          <a:prstGeom prst="roundRect">
            <a:avLst>
              <a:gd name="adj" fmla="val 6000"/>
            </a:avLst>
          </a:prstGeom>
          <a:solidFill>
            <a:srgbClr val="E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260129" y="2871216"/>
            <a:ext cx="453542" cy="841247"/>
          </a:xfrm>
          <a:prstGeom prst="roundRect">
            <a:avLst>
              <a:gd name="adj" fmla="val 16000"/>
            </a:avLst>
          </a:prstGeom>
          <a:solidFill>
            <a:srgbClr val="FCFBF8"/>
          </a:solidFill>
          <a:ln w="15875">
            <a:solidFill>
              <a:srgbClr val="D8D3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475927" y="2761488"/>
            <a:ext cx="21945" cy="95097"/>
          </a:xfrm>
          <a:prstGeom prst="roundRect">
            <a:avLst/>
          </a:prstGeom>
          <a:solidFill>
            <a:srgbClr val="2B2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435694" y="2600553"/>
            <a:ext cx="102412" cy="219456"/>
          </a:xfrm>
          <a:prstGeom prst="ellipse">
            <a:avLst/>
          </a:prstGeom>
          <a:solidFill>
            <a:srgbClr val="D9D2C8"/>
          </a:solidFill>
          <a:ln>
            <a:noFill/>
          </a:ln>
          <a:effectLst>
            <a:softEdge rad="36576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09560" y="3977639"/>
            <a:ext cx="315468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800" b="0" i="0">
                <a:solidFill>
                  <a:srgbClr val="4F6E57"/>
                </a:solidFill>
                <a:latin typeface="Georgia"/>
              </a:rPr>
              <a:t>Nothing unlocks
while you're alive.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41908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1" i="0">
                <a:solidFill>
                  <a:srgbClr val="C8743A"/>
                </a:solidFill>
                <a:latin typeface="Segoe UI"/>
              </a:rPr>
              <a:t>LastLogin</a:t>
            </a:r>
            <a:r>
              <a:rPr sz="900" b="0" i="0">
                <a:solidFill>
                  <a:srgbClr val="9A938A"/>
                </a:solidFill>
                <a:latin typeface="Segoe UI"/>
              </a:rPr>
              <a:t>   ·   Team Thrivers   ·   Hackprix S3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419088"/>
            <a:ext cx="75895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A938A"/>
                </a:solidFill>
                <a:latin typeface="Consolas"/>
              </a:rPr>
              <a:t>03 / 08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 spc="220">
                <a:solidFill>
                  <a:srgbClr val="C8743A"/>
                </a:solidFill>
                <a:latin typeface="Segoe UI"/>
              </a:rPr>
              <a:t>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32688"/>
            <a:ext cx="10515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700" b="0" i="0">
                <a:solidFill>
                  <a:srgbClr val="2B2A28"/>
                </a:solidFill>
                <a:latin typeface="Georgia"/>
              </a:rPr>
              <a:t>Five steps, one continuous flow.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286000"/>
            <a:ext cx="1042416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300"/>
              </a:spcAft>
            </a:pPr>
            <a:r>
              <a:rPr sz="1550" b="1" i="0">
                <a:solidFill>
                  <a:srgbClr val="C8743A"/>
                </a:solidFill>
                <a:latin typeface="Consolas"/>
              </a:rPr>
              <a:t>01</a:t>
            </a:r>
            <a:r>
              <a:rPr sz="1550" b="0" i="0">
                <a:solidFill>
                  <a:srgbClr val="9A938A"/>
                </a:solidFill>
                <a:latin typeface="Consolas"/>
              </a:rPr>
              <a:t>   </a:t>
            </a:r>
            <a:r>
              <a:rPr sz="1550" b="1" i="0">
                <a:solidFill>
                  <a:srgbClr val="2B2A28"/>
                </a:solidFill>
                <a:latin typeface="Segoe UI"/>
              </a:rPr>
              <a:t>Fill the vault  </a:t>
            </a:r>
            <a:r>
              <a:rPr sz="1550" b="0" i="0">
                <a:solidFill>
                  <a:srgbClr val="55524C"/>
                </a:solidFill>
                <a:latin typeface="Segoe UI"/>
              </a:rPr>
              <a:t>— an AI will-assistant interviews you.  (Gemini)</a:t>
            </a:r>
          </a:p>
          <a:p>
            <a:pPr>
              <a:lnSpc>
                <a:spcPct val="112000"/>
              </a:lnSpc>
              <a:spcAft>
                <a:spcPts val="1300"/>
              </a:spcAft>
            </a:pPr>
            <a:r>
              <a:rPr sz="1550" b="1" i="0">
                <a:solidFill>
                  <a:srgbClr val="C8743A"/>
                </a:solidFill>
                <a:latin typeface="Consolas"/>
              </a:rPr>
              <a:t>02</a:t>
            </a:r>
            <a:r>
              <a:rPr sz="1550" b="0" i="0">
                <a:solidFill>
                  <a:srgbClr val="9A938A"/>
                </a:solidFill>
                <a:latin typeface="Consolas"/>
              </a:rPr>
              <a:t>   </a:t>
            </a:r>
            <a:r>
              <a:rPr sz="1550" b="1" i="0">
                <a:solidFill>
                  <a:srgbClr val="2B2A28"/>
                </a:solidFill>
                <a:latin typeface="Segoe UI"/>
              </a:rPr>
              <a:t>Clone your voice  </a:t>
            </a:r>
            <a:r>
              <a:rPr sz="1550" b="0" i="0">
                <a:solidFill>
                  <a:srgbClr val="55524C"/>
                </a:solidFill>
                <a:latin typeface="Segoe UI"/>
              </a:rPr>
              <a:t>— record once; translate to your family's language.  (ElevenLabs · Sarvam)</a:t>
            </a:r>
          </a:p>
          <a:p>
            <a:pPr>
              <a:lnSpc>
                <a:spcPct val="112000"/>
              </a:lnSpc>
              <a:spcAft>
                <a:spcPts val="1300"/>
              </a:spcAft>
            </a:pPr>
            <a:r>
              <a:rPr sz="1550" b="1" i="0">
                <a:solidFill>
                  <a:srgbClr val="C8743A"/>
                </a:solidFill>
                <a:latin typeface="Consolas"/>
              </a:rPr>
              <a:t>03</a:t>
            </a:r>
            <a:r>
              <a:rPr sz="1550" b="0" i="0">
                <a:solidFill>
                  <a:srgbClr val="9A938A"/>
                </a:solidFill>
                <a:latin typeface="Consolas"/>
              </a:rPr>
              <a:t>   </a:t>
            </a:r>
            <a:r>
              <a:rPr sz="1550" b="1" i="0">
                <a:solidFill>
                  <a:srgbClr val="2B2A28"/>
                </a:solidFill>
                <a:latin typeface="Segoe UI"/>
              </a:rPr>
              <a:t>Fund inheritance  </a:t>
            </a:r>
            <a:r>
              <a:rPr sz="1550" b="0" i="0">
                <a:solidFill>
                  <a:srgbClr val="55524C"/>
                </a:solidFill>
                <a:latin typeface="Segoe UI"/>
              </a:rPr>
              <a:t>— name a beneficiary on a smart contract.  (Ethereum)</a:t>
            </a:r>
          </a:p>
          <a:p>
            <a:pPr>
              <a:lnSpc>
                <a:spcPct val="112000"/>
              </a:lnSpc>
              <a:spcAft>
                <a:spcPts val="1300"/>
              </a:spcAft>
            </a:pPr>
            <a:r>
              <a:rPr sz="1550" b="1" i="0">
                <a:solidFill>
                  <a:srgbClr val="C8743A"/>
                </a:solidFill>
                <a:latin typeface="Consolas"/>
              </a:rPr>
              <a:t>04</a:t>
            </a:r>
            <a:r>
              <a:rPr sz="1550" b="0" i="0">
                <a:solidFill>
                  <a:srgbClr val="9A938A"/>
                </a:solidFill>
                <a:latin typeface="Consolas"/>
              </a:rPr>
              <a:t>   </a:t>
            </a:r>
            <a:r>
              <a:rPr sz="1550" b="1" i="0">
                <a:solidFill>
                  <a:srgbClr val="2B2A28"/>
                </a:solidFill>
                <a:latin typeface="Segoe UI"/>
              </a:rPr>
              <a:t>Verify the passing  </a:t>
            </a:r>
            <a:r>
              <a:rPr sz="1550" b="0" i="0">
                <a:solidFill>
                  <a:srgbClr val="55524C"/>
                </a:solidFill>
                <a:latin typeface="Segoe UI"/>
              </a:rPr>
              <a:t>— 2 guardians + an AI cert check flip ACTIVE → EXECUTING.  (Gemini Vision)</a:t>
            </a:r>
          </a:p>
          <a:p>
            <a:pPr>
              <a:lnSpc>
                <a:spcPct val="112000"/>
              </a:lnSpc>
              <a:spcAft>
                <a:spcPts val="1300"/>
              </a:spcAft>
            </a:pPr>
            <a:r>
              <a:rPr sz="1550" b="1" i="0">
                <a:solidFill>
                  <a:srgbClr val="C8743A"/>
                </a:solidFill>
                <a:latin typeface="Consolas"/>
              </a:rPr>
              <a:t>05</a:t>
            </a:r>
            <a:r>
              <a:rPr sz="1550" b="0" i="0">
                <a:solidFill>
                  <a:srgbClr val="9A938A"/>
                </a:solidFill>
                <a:latin typeface="Consolas"/>
              </a:rPr>
              <a:t>   </a:t>
            </a:r>
            <a:r>
              <a:rPr sz="1550" b="1" i="0">
                <a:solidFill>
                  <a:srgbClr val="2B2A28"/>
                </a:solidFill>
                <a:latin typeface="Segoe UI"/>
              </a:rPr>
              <a:t>Family unlocks  </a:t>
            </a:r>
            <a:r>
              <a:rPr sz="1550" b="0" i="0">
                <a:solidFill>
                  <a:srgbClr val="55524C"/>
                </a:solidFill>
                <a:latin typeface="Segoe UI"/>
              </a:rPr>
              <a:t>— the dashboard plays the message and shows the transfer.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1908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1" i="0">
                <a:solidFill>
                  <a:srgbClr val="C8743A"/>
                </a:solidFill>
                <a:latin typeface="Segoe UI"/>
              </a:rPr>
              <a:t>LastLogin</a:t>
            </a:r>
            <a:r>
              <a:rPr sz="900" b="0" i="0">
                <a:solidFill>
                  <a:srgbClr val="9A938A"/>
                </a:solidFill>
                <a:latin typeface="Segoe UI"/>
              </a:rPr>
              <a:t>   ·   Team Thrivers   ·   Hackprix S3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19088"/>
            <a:ext cx="75895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A938A"/>
                </a:solidFill>
                <a:latin typeface="Consolas"/>
              </a:rPr>
              <a:t>04 / 08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 spc="220">
                <a:solidFill>
                  <a:srgbClr val="C8743A"/>
                </a:solidFill>
                <a:latin typeface="Segoe UI"/>
              </a:rPr>
              <a:t>WHAT'S INSIDE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32688"/>
            <a:ext cx="10515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700" b="0" i="0">
                <a:solidFill>
                  <a:srgbClr val="2B2A28"/>
                </a:solidFill>
                <a:latin typeface="Georgia"/>
              </a:rPr>
              <a:t>Built like an estate, not an app.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331720"/>
            <a:ext cx="521208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550" b="1" i="0">
                <a:solidFill>
                  <a:srgbClr val="C8743A"/>
                </a:solidFill>
                <a:latin typeface="Segoe UI"/>
              </a:rPr>
              <a:t>•   </a:t>
            </a:r>
            <a:r>
              <a:rPr sz="1550" b="1" i="0">
                <a:solidFill>
                  <a:srgbClr val="2B2A28"/>
                </a:solidFill>
                <a:latin typeface="Segoe UI"/>
              </a:rPr>
              <a:t>Encrypted vault </a:t>
            </a:r>
            <a:r>
              <a:rPr sz="1550" b="0" i="0">
                <a:solidFill>
                  <a:srgbClr val="55524C"/>
                </a:solidFill>
                <a:latin typeface="Segoe UI"/>
              </a:rPr>
              <a:t>— AES-256-GCM, on-chain fingerprint.</a:t>
            </a:r>
          </a:p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550" b="1" i="0">
                <a:solidFill>
                  <a:srgbClr val="C8743A"/>
                </a:solidFill>
                <a:latin typeface="Segoe UI"/>
              </a:rPr>
              <a:t>•   </a:t>
            </a:r>
            <a:r>
              <a:rPr sz="1550" b="1" i="0">
                <a:solidFill>
                  <a:srgbClr val="2B2A28"/>
                </a:solidFill>
                <a:latin typeface="Segoe UI"/>
              </a:rPr>
              <a:t>Guardian trigger </a:t>
            </a:r>
            <a:r>
              <a:rPr sz="1550" b="0" i="0">
                <a:solidFill>
                  <a:srgbClr val="55524C"/>
                </a:solidFill>
                <a:latin typeface="Segoe UI"/>
              </a:rPr>
              <a:t>— 2-of-3, no single point of trust.</a:t>
            </a:r>
          </a:p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550" b="1" i="0">
                <a:solidFill>
                  <a:srgbClr val="C8743A"/>
                </a:solidFill>
                <a:latin typeface="Segoe UI"/>
              </a:rPr>
              <a:t>•   </a:t>
            </a:r>
            <a:r>
              <a:rPr sz="1550" b="1" i="0">
                <a:solidFill>
                  <a:srgbClr val="2B2A28"/>
                </a:solidFill>
                <a:latin typeface="Segoe UI"/>
              </a:rPr>
              <a:t>On-chain inheritance </a:t>
            </a:r>
            <a:r>
              <a:rPr sz="1550" b="0" i="0">
                <a:solidFill>
                  <a:srgbClr val="55524C"/>
                </a:solidFill>
                <a:latin typeface="Segoe UI"/>
              </a:rPr>
              <a:t>— immutable and uncontestable.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5080" y="2331720"/>
            <a:ext cx="502920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550" b="1" i="0">
                <a:solidFill>
                  <a:srgbClr val="C8743A"/>
                </a:solidFill>
                <a:latin typeface="Segoe UI"/>
              </a:rPr>
              <a:t>•   </a:t>
            </a:r>
            <a:r>
              <a:rPr sz="1550" b="1" i="0">
                <a:solidFill>
                  <a:srgbClr val="2B2A28"/>
                </a:solidFill>
                <a:latin typeface="Segoe UI"/>
              </a:rPr>
              <a:t>AI will-assistant </a:t>
            </a:r>
            <a:r>
              <a:rPr sz="1550" b="0" i="0">
                <a:solidFill>
                  <a:srgbClr val="55524C"/>
                </a:solidFill>
                <a:latin typeface="Segoe UI"/>
              </a:rPr>
              <a:t>— a chat becomes a structured will.</a:t>
            </a:r>
          </a:p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550" b="1" i="0">
                <a:solidFill>
                  <a:srgbClr val="C8743A"/>
                </a:solidFill>
                <a:latin typeface="Segoe UI"/>
              </a:rPr>
              <a:t>•   </a:t>
            </a:r>
            <a:r>
              <a:rPr sz="1550" b="1" i="0">
                <a:solidFill>
                  <a:srgbClr val="2B2A28"/>
                </a:solidFill>
                <a:latin typeface="Segoe UI"/>
              </a:rPr>
              <a:t>Final messages </a:t>
            </a:r>
            <a:r>
              <a:rPr sz="1550" b="0" i="0">
                <a:solidFill>
                  <a:srgbClr val="55524C"/>
                </a:solidFill>
                <a:latin typeface="Segoe UI"/>
              </a:rPr>
              <a:t>— your voice, your family's language.</a:t>
            </a:r>
          </a:p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550" b="1" i="0">
                <a:solidFill>
                  <a:srgbClr val="C8743A"/>
                </a:solidFill>
                <a:latin typeface="Segoe UI"/>
              </a:rPr>
              <a:t>•   </a:t>
            </a:r>
            <a:r>
              <a:rPr sz="1550" b="1" i="0">
                <a:solidFill>
                  <a:srgbClr val="2B2A28"/>
                </a:solidFill>
                <a:latin typeface="Segoe UI"/>
              </a:rPr>
              <a:t>Talk-with-them </a:t>
            </a:r>
            <a:r>
              <a:rPr sz="1550" b="0" i="0">
                <a:solidFill>
                  <a:srgbClr val="55524C"/>
                </a:solidFill>
                <a:latin typeface="Segoe UI"/>
              </a:rPr>
              <a:t>— a safety-railed AI remembrance.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41908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1" i="0">
                <a:solidFill>
                  <a:srgbClr val="C8743A"/>
                </a:solidFill>
                <a:latin typeface="Segoe UI"/>
              </a:rPr>
              <a:t>LastLogin</a:t>
            </a:r>
            <a:r>
              <a:rPr sz="900" b="0" i="0">
                <a:solidFill>
                  <a:srgbClr val="9A938A"/>
                </a:solidFill>
                <a:latin typeface="Segoe UI"/>
              </a:rPr>
              <a:t>   ·   Team Thrivers   ·   Hackprix S3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19088"/>
            <a:ext cx="75895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A938A"/>
                </a:solidFill>
                <a:latin typeface="Consolas"/>
              </a:rPr>
              <a:t>05 / 08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 spc="220">
                <a:solidFill>
                  <a:srgbClr val="C8743A"/>
                </a:solidFill>
                <a:latin typeface="Segoe UI"/>
              </a:rPr>
              <a:t>WHY IT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32688"/>
            <a:ext cx="10515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700" b="0" i="0">
                <a:solidFill>
                  <a:srgbClr val="2B2A28"/>
                </a:solidFill>
                <a:latin typeface="Georgia"/>
              </a:rPr>
              <a:t>The first inheritance you can hear.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331720"/>
            <a:ext cx="640080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300"/>
              </a:spcAft>
            </a:pPr>
            <a:r>
              <a:rPr sz="1600" b="1" i="0">
                <a:solidFill>
                  <a:srgbClr val="C8743A"/>
                </a:solidFill>
                <a:latin typeface="Segoe UI"/>
              </a:rPr>
              <a:t>•   </a:t>
            </a:r>
            <a:r>
              <a:rPr sz="1600" b="0" i="0">
                <a:solidFill>
                  <a:srgbClr val="55524C"/>
                </a:solidFill>
                <a:latin typeface="Segoe UI"/>
              </a:rPr>
              <a:t>Not just passwords — presence. Your real voice, not text.</a:t>
            </a:r>
          </a:p>
          <a:p>
            <a:pPr>
              <a:lnSpc>
                <a:spcPct val="112000"/>
              </a:lnSpc>
              <a:spcAft>
                <a:spcPts val="1300"/>
              </a:spcAft>
            </a:pPr>
            <a:r>
              <a:rPr sz="1600" b="1" i="0">
                <a:solidFill>
                  <a:srgbClr val="C8743A"/>
                </a:solidFill>
                <a:latin typeface="Segoe UI"/>
              </a:rPr>
              <a:t>•   </a:t>
            </a:r>
            <a:r>
              <a:rPr sz="1600" b="0" i="0">
                <a:solidFill>
                  <a:srgbClr val="55524C"/>
                </a:solidFill>
                <a:latin typeface="Segoe UI"/>
              </a:rPr>
              <a:t>Spoken in Hindi, Tamil, Telugu… in your own tone.</a:t>
            </a:r>
          </a:p>
          <a:p>
            <a:pPr>
              <a:lnSpc>
                <a:spcPct val="112000"/>
              </a:lnSpc>
              <a:spcAft>
                <a:spcPts val="1300"/>
              </a:spcAft>
            </a:pPr>
            <a:r>
              <a:rPr sz="1600" b="1" i="0">
                <a:solidFill>
                  <a:srgbClr val="C8743A"/>
                </a:solidFill>
                <a:latin typeface="Segoe UI"/>
              </a:rPr>
              <a:t>•   </a:t>
            </a:r>
            <a:r>
              <a:rPr sz="1600" b="0" i="0">
                <a:solidFill>
                  <a:srgbClr val="55524C"/>
                </a:solidFill>
                <a:latin typeface="Segoe UI"/>
              </a:rPr>
              <a:t>Loved ones can still talk with a gentle AI you leave behind.</a:t>
            </a:r>
          </a:p>
          <a:p>
            <a:pPr>
              <a:lnSpc>
                <a:spcPct val="112000"/>
              </a:lnSpc>
              <a:spcAft>
                <a:spcPts val="1300"/>
              </a:spcAft>
            </a:pPr>
            <a:r>
              <a:rPr sz="1600" b="1" i="0">
                <a:solidFill>
                  <a:srgbClr val="C8743A"/>
                </a:solidFill>
                <a:latin typeface="Segoe UI"/>
              </a:rPr>
              <a:t>•   </a:t>
            </a:r>
            <a:r>
              <a:rPr sz="1600" b="0" i="0">
                <a:solidFill>
                  <a:srgbClr val="55524C"/>
                </a:solidFill>
                <a:latin typeface="Segoe UI"/>
              </a:rPr>
              <a:t>Guard-railed: never leaks secrets, never asks for money.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35240" y="2240280"/>
            <a:ext cx="3703320" cy="2926080"/>
          </a:xfrm>
          <a:prstGeom prst="roundRect">
            <a:avLst>
              <a:gd name="adj" fmla="val 6000"/>
            </a:avLst>
          </a:prstGeom>
          <a:solidFill>
            <a:srgbClr val="F7E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79" y="2788920"/>
            <a:ext cx="306324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700" b="0" i="0">
                <a:solidFill>
                  <a:srgbClr val="A65621"/>
                </a:solidFill>
                <a:latin typeface="Georgia"/>
              </a:rPr>
              <a:t>“Beta, main
yahan hoon.”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79" y="4343400"/>
            <a:ext cx="3063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55524C"/>
                </a:solidFill>
                <a:latin typeface="Segoe UI"/>
              </a:rPr>
              <a:t>— played back in their own cloned voice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41908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1" i="0">
                <a:solidFill>
                  <a:srgbClr val="C8743A"/>
                </a:solidFill>
                <a:latin typeface="Segoe UI"/>
              </a:rPr>
              <a:t>LastLogin</a:t>
            </a:r>
            <a:r>
              <a:rPr sz="900" b="0" i="0">
                <a:solidFill>
                  <a:srgbClr val="9A938A"/>
                </a:solidFill>
                <a:latin typeface="Segoe UI"/>
              </a:rPr>
              <a:t>   ·   Team Thrivers   ·   Hackprix S3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19088"/>
            <a:ext cx="75895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A938A"/>
                </a:solidFill>
                <a:latin typeface="Consolas"/>
              </a:rPr>
              <a:t>06 / 08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 spc="220">
                <a:solidFill>
                  <a:srgbClr val="C8743A"/>
                </a:solidFill>
                <a:latin typeface="Segoe UI"/>
              </a:rPr>
              <a:t>HOW WE BUILT 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32688"/>
            <a:ext cx="10515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700" b="0" i="0">
                <a:solidFill>
                  <a:srgbClr val="2B2A28"/>
                </a:solidFill>
                <a:latin typeface="Georgia"/>
              </a:rPr>
              <a:t>Every sponsor earns its place.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331720"/>
            <a:ext cx="521208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550" b="1" i="0">
                <a:solidFill>
                  <a:srgbClr val="C8743A"/>
                </a:solidFill>
                <a:latin typeface="Segoe UI"/>
              </a:rPr>
              <a:t>•   </a:t>
            </a:r>
            <a:r>
              <a:rPr sz="1550" b="1" i="0">
                <a:solidFill>
                  <a:srgbClr val="2B2A28"/>
                </a:solidFill>
                <a:latin typeface="Segoe UI"/>
              </a:rPr>
              <a:t>Gemini </a:t>
            </a:r>
            <a:r>
              <a:rPr sz="1550" b="0" i="0">
                <a:solidFill>
                  <a:srgbClr val="55524C"/>
                </a:solidFill>
                <a:latin typeface="Segoe UI"/>
              </a:rPr>
              <a:t>— will-assistant, cert vision, drafting.</a:t>
            </a:r>
          </a:p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550" b="1" i="0">
                <a:solidFill>
                  <a:srgbClr val="C8743A"/>
                </a:solidFill>
                <a:latin typeface="Segoe UI"/>
              </a:rPr>
              <a:t>•   </a:t>
            </a:r>
            <a:r>
              <a:rPr sz="1550" b="1" i="0">
                <a:solidFill>
                  <a:srgbClr val="2B2A28"/>
                </a:solidFill>
                <a:latin typeface="Segoe UI"/>
              </a:rPr>
              <a:t>ElevenLabs </a:t>
            </a:r>
            <a:r>
              <a:rPr sz="1550" b="0" i="0">
                <a:solidFill>
                  <a:srgbClr val="55524C"/>
                </a:solidFill>
                <a:latin typeface="Segoe UI"/>
              </a:rPr>
              <a:t>— the person's own cloned voice.</a:t>
            </a:r>
          </a:p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550" b="1" i="0">
                <a:solidFill>
                  <a:srgbClr val="C8743A"/>
                </a:solidFill>
                <a:latin typeface="Segoe UI"/>
              </a:rPr>
              <a:t>•   </a:t>
            </a:r>
            <a:r>
              <a:rPr sz="1550" b="1" i="0">
                <a:solidFill>
                  <a:srgbClr val="2B2A28"/>
                </a:solidFill>
                <a:latin typeface="Segoe UI"/>
              </a:rPr>
              <a:t>Sarvam </a:t>
            </a:r>
            <a:r>
              <a:rPr sz="1550" b="0" i="0">
                <a:solidFill>
                  <a:srgbClr val="55524C"/>
                </a:solidFill>
                <a:latin typeface="Segoe UI"/>
              </a:rPr>
              <a:t>— India-first translation + speech.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5080" y="2331720"/>
            <a:ext cx="502920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550" b="1" i="0">
                <a:solidFill>
                  <a:srgbClr val="C8743A"/>
                </a:solidFill>
                <a:latin typeface="Segoe UI"/>
              </a:rPr>
              <a:t>•   </a:t>
            </a:r>
            <a:r>
              <a:rPr sz="1550" b="1" i="0">
                <a:solidFill>
                  <a:srgbClr val="2B2A28"/>
                </a:solidFill>
                <a:latin typeface="Segoe UI"/>
              </a:rPr>
              <a:t>Ethereum </a:t>
            </a:r>
            <a:r>
              <a:rPr sz="1550" b="0" i="0">
                <a:solidFill>
                  <a:srgbClr val="55524C"/>
                </a:solidFill>
                <a:latin typeface="Segoe UI"/>
              </a:rPr>
              <a:t>— trustless inheritance + ledger.</a:t>
            </a:r>
          </a:p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550" b="1" i="0">
                <a:solidFill>
                  <a:srgbClr val="C8743A"/>
                </a:solidFill>
                <a:latin typeface="Segoe UI"/>
              </a:rPr>
              <a:t>•   </a:t>
            </a:r>
            <a:r>
              <a:rPr sz="1550" b="1" i="0">
                <a:solidFill>
                  <a:srgbClr val="2B2A28"/>
                </a:solidFill>
                <a:latin typeface="Segoe UI"/>
              </a:rPr>
              <a:t>MongoDB </a:t>
            </a:r>
            <a:r>
              <a:rPr sz="1550" b="0" i="0">
                <a:solidFill>
                  <a:srgbClr val="55524C"/>
                </a:solidFill>
                <a:latin typeface="Segoe UI"/>
              </a:rPr>
              <a:t>— encrypted vault + messages.</a:t>
            </a:r>
          </a:p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550" b="1" i="0">
                <a:solidFill>
                  <a:srgbClr val="C8743A"/>
                </a:solidFill>
                <a:latin typeface="Segoe UI"/>
              </a:rPr>
              <a:t>•   </a:t>
            </a:r>
            <a:r>
              <a:rPr sz="1550" b="1" i="0">
                <a:solidFill>
                  <a:srgbClr val="2B2A28"/>
                </a:solidFill>
                <a:latin typeface="Segoe UI"/>
              </a:rPr>
              <a:t>Vultr · GitHub </a:t>
            </a:r>
            <a:r>
              <a:rPr sz="1550" b="0" i="0">
                <a:solidFill>
                  <a:srgbClr val="55524C"/>
                </a:solidFill>
                <a:latin typeface="Segoe UI"/>
              </a:rPr>
              <a:t>— hosting + full build trail.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41908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1" i="0">
                <a:solidFill>
                  <a:srgbClr val="C8743A"/>
                </a:solidFill>
                <a:latin typeface="Segoe UI"/>
              </a:rPr>
              <a:t>LastLogin</a:t>
            </a:r>
            <a:r>
              <a:rPr sz="900" b="0" i="0">
                <a:solidFill>
                  <a:srgbClr val="9A938A"/>
                </a:solidFill>
                <a:latin typeface="Segoe UI"/>
              </a:rPr>
              <a:t>   ·   Team Thrivers   ·   Hackprix S3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19088"/>
            <a:ext cx="75895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A938A"/>
                </a:solidFill>
                <a:latin typeface="Consolas"/>
              </a:rPr>
              <a:t>07 / 08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6711696"/>
            <a:ext cx="12191695" cy="146304"/>
          </a:xfrm>
          <a:prstGeom prst="roundRect">
            <a:avLst>
              <a:gd name="adj" fmla="val 6000"/>
            </a:avLst>
          </a:prstGeom>
          <a:solidFill>
            <a:srgbClr val="C87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812840" y="1371600"/>
            <a:ext cx="566928" cy="1051560"/>
          </a:xfrm>
          <a:prstGeom prst="roundRect">
            <a:avLst>
              <a:gd name="adj" fmla="val 16000"/>
            </a:avLst>
          </a:prstGeom>
          <a:solidFill>
            <a:srgbClr val="FCFBF8"/>
          </a:solidFill>
          <a:ln w="15875">
            <a:solidFill>
              <a:srgbClr val="D8D3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82588" y="1234440"/>
            <a:ext cx="27432" cy="118872"/>
          </a:xfrm>
          <a:prstGeom prst="roundRect">
            <a:avLst/>
          </a:prstGeom>
          <a:solidFill>
            <a:srgbClr val="2B2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840272" y="850392"/>
            <a:ext cx="512064" cy="676656"/>
          </a:xfrm>
          <a:prstGeom prst="ellipse">
            <a:avLst/>
          </a:prstGeom>
          <a:solidFill>
            <a:srgbClr val="F7ECE0"/>
          </a:solidFill>
          <a:ln>
            <a:noFill/>
          </a:ln>
          <a:effectLst>
            <a:softEdge rad="118872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004864" y="960120"/>
            <a:ext cx="182880" cy="420624"/>
          </a:xfrm>
          <a:prstGeom prst="ellipse">
            <a:avLst/>
          </a:prstGeom>
          <a:solidFill>
            <a:srgbClr val="C8743A"/>
          </a:solidFill>
          <a:ln>
            <a:noFill/>
          </a:ln>
          <a:effectLst>
            <a:softEdge rad="27432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055156" y="1060704"/>
            <a:ext cx="82296" cy="192024"/>
          </a:xfrm>
          <a:prstGeom prst="ellipse">
            <a:avLst/>
          </a:prstGeom>
          <a:solidFill>
            <a:srgbClr val="F6C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514600"/>
            <a:ext cx="9814255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3000" b="0" i="0">
                <a:solidFill>
                  <a:srgbClr val="2B2A28"/>
                </a:solidFill>
                <a:latin typeface="Georgia"/>
              </a:rPr>
              <a:t>Your last login isn't the end —
it's the first thing you leave behind.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4297680"/>
            <a:ext cx="8899855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700"/>
              </a:spcAft>
            </a:pPr>
            <a:r>
              <a:rPr sz="1400" b="0" i="0">
                <a:solidFill>
                  <a:srgbClr val="55524C"/>
                </a:solidFill>
                <a:latin typeface="Segoe UI"/>
              </a:rPr>
              <a:t>Live demo: the contract flips on Etherscan, the family dashboard unlocks.</a:t>
            </a:r>
          </a:p>
          <a:p>
            <a:pPr algn="ctr">
              <a:lnSpc>
                <a:spcPct val="100000"/>
              </a:lnSpc>
              <a:spcAft>
                <a:spcPts val="700"/>
              </a:spcAft>
            </a:pPr>
            <a:r>
              <a:rPr sz="1400" b="0" i="0">
                <a:solidFill>
                  <a:srgbClr val="55524C"/>
                </a:solidFill>
                <a:latin typeface="Segoe UI"/>
              </a:rPr>
              <a:t>Next: time-capsule messages, account-closure automation, a chat-with-them twin.</a:t>
            </a:r>
          </a:p>
          <a:p>
            <a:pPr algn="ctr">
              <a:lnSpc>
                <a:spcPct val="100000"/>
              </a:lnSpc>
              <a:spcAft>
                <a:spcPts val="700"/>
              </a:spcAft>
            </a:pPr>
            <a:r>
              <a:rPr sz="1400" b="0" i="0">
                <a:solidFill>
                  <a:srgbClr val="55524C"/>
                </a:solidFill>
                <a:latin typeface="Segoe UI"/>
              </a:rPr>
              <a:t>Emotional + technical + defensible across every sponsor track.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897880"/>
            <a:ext cx="103628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 spc="240">
                <a:solidFill>
                  <a:srgbClr val="9A938A"/>
                </a:solidFill>
                <a:latin typeface="Segoe UI"/>
              </a:rPr>
              <a:t>TEAM THRIVERS   ·   HACKPRIX S3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LastLogin — Hackprix S3</dc:title>
  <dc:subject>Proactive digital-estate manager</dc:subject>
  <dc:creator>Team Thrivers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